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7415bbc-d461-029d-f1a0-411412e9248d}">
          <p14:sldIdLst>
            <p14:sldId id="256"/>
          </p14:sldIdLst>
        </p14:section>
        <p14:section name="Context" id="{98d1a2ee-3206-52ff-d6e5-cd77ee29e392}">
          <p14:sldIdLst>
            <p14:sldId id="257"/>
          </p14:sldIdLst>
        </p14:section>
        <p14:section name="Product" id="{90b6fc79-5bd2-cec9-bf8c-e6c359691a08}">
          <p14:sldIdLst>
            <p14:sldId id="258"/>
            <p14:sldId id="259"/>
          </p14:sldIdLst>
        </p14:section>
        <p14:section name="Progress" id="{8311d52f-a468-6c15-e5ad-ff90319a976c}">
          <p14:sldIdLst>
            <p14:sldId id="260"/>
            <p14:sldId id="261"/>
            <p14:sldId id="262"/>
          </p14:sldIdLst>
        </p14:section>
        <p14:section name="Next steps" id="{25ec03c7-6e84-bdd5-0165-b50cb961516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81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81C"/>
                </a:solidFill>
                <a:latin typeface="+mn-lt"/>
              </a:rPr>
              <a:t>Active minutes per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minutes</c:v>
                </c:pt>
              </c:strCache>
            </c:strRef>
          </c:tx>
          <c:spPr>
            <a:solidFill>
              <a:srgbClr val="FF5A3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8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</c:v>
                </c:pt>
                <c:pt idx="1">
                  <c:v>0</c:v>
                </c:pt>
                <c:pt idx="2">
                  <c:v>60</c:v>
                </c:pt>
                <c:pt idx="3">
                  <c:v>30</c:v>
                </c:pt>
                <c:pt idx="4">
                  <c:v>50</c:v>
                </c:pt>
                <c:pt idx="5">
                  <c:v>75</c:v>
                </c:pt>
                <c:pt idx="6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8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22960"/>
            <a:ext cx="53035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20040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82296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Personal Fitness &amp; Workout Tracker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2004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Track every session, see real progress, and stay consistent.</a:t>
            </a:r>
            <a:endParaRPr lang="en-US" sz="1800" dirty="0"/>
          </a:p>
        </p:txBody>
      </p:sp>
      <p:sp>
        <p:nvSpPr>
          <p:cNvPr id="4" name="University name"/>
          <p:cNvSpPr txBox="1"/>
          <p:nvPr/>
        </p:nvSpPr>
        <p:spPr>
          <a:xfrm>
            <a:off x="548640" y="411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3"/>
                </a:solidFill>
              </a:rPr>
              <a:t>KLH UNIVERSITY</a:t>
            </a:r>
            <a:endParaRPr lang="en-US" sz="1800" dirty="0"/>
          </a:p>
        </p:txBody>
      </p:sp>
      <p:sp>
        <p:nvSpPr>
          <p:cNvPr id="5" name="Presenters"/>
          <p:cNvSpPr txBox="1"/>
          <p:nvPr/>
        </p:nvSpPr>
        <p:spPr>
          <a:xfrm>
            <a:off x="548640" y="40690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Gowtham Sharma - 2620030281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Sarvan - 2620030289</a:t>
            </a:r>
            <a:endParaRPr lang="en-US" sz="1400" dirty="0"/>
          </a:p>
        </p:txBody>
      </p:sp>
      <p:sp>
        <p:nvSpPr>
          <p:cNvPr id="6" name="Hero circle"/>
          <p:cNvSpPr/>
          <p:nvPr/>
        </p:nvSpPr>
        <p:spPr>
          <a:xfrm>
            <a:off x="5943600" y="914400"/>
            <a:ext cx="2743200" cy="2743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Hero icon" descr="Dumbbe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0"/>
            <a:ext cx="1280160" cy="1280160"/>
          </a:xfrm>
          <a:prstGeom prst="rect">
            <a:avLst/>
          </a:prstGeom>
        </p:spPr>
      </p:pic>
      <p:sp>
        <p:nvSpPr>
          <p:cNvPr id="8" name="Heart circle"/>
          <p:cNvSpPr/>
          <p:nvPr/>
        </p:nvSpPr>
        <p:spPr>
          <a:xfrm>
            <a:off x="5577840" y="32918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Heart icon" descr="He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520440"/>
            <a:ext cx="457200" cy="457200"/>
          </a:xfrm>
          <a:prstGeom prst="rect">
            <a:avLst/>
          </a:prstGeom>
        </p:spPr>
      </p:pic>
      <p:sp>
        <p:nvSpPr>
          <p:cNvPr id="10" name="Fire circle"/>
          <p:cNvSpPr/>
          <p:nvPr/>
        </p:nvSpPr>
        <p:spPr>
          <a:xfrm>
            <a:off x="8046720" y="45720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Fire icon" descr="Fla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65836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Why most plans fail</a:t>
            </a:r>
            <a:endParaRPr lang="en-US" sz="36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46304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 1 circle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roblem 1 icon" descr="Problem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365760" cy="365760"/>
          </a:xfrm>
          <a:prstGeom prst="rect">
            <a:avLst/>
          </a:prstGeom>
        </p:spPr>
      </p:pic>
      <p:sp>
        <p:nvSpPr>
          <p:cNvPr id="6" name="Problem title 1"/>
          <p:cNvSpPr txBox="1"/>
          <p:nvPr/>
        </p:nvSpPr>
        <p:spPr>
          <a:xfrm>
            <a:off x="73152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clear record</a:t>
            </a:r>
            <a:endParaRPr lang="en-US" sz="2000" dirty="0"/>
          </a:p>
        </p:txBody>
      </p:sp>
      <p:sp>
        <p:nvSpPr>
          <p:cNvPr id="7" name="Problem text 1"/>
          <p:cNvSpPr txBox="1"/>
          <p:nvPr/>
        </p:nvSpPr>
        <p:spPr>
          <a:xfrm>
            <a:off x="731520" y="3108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Workouts live in memory, notes and screenshots, so patterns stay hidden.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3291840" y="146304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blem 2 circle"/>
          <p:cNvSpPr/>
          <p:nvPr/>
        </p:nvSpPr>
        <p:spPr>
          <a:xfrm>
            <a:off x="356616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roblem 2 icon" descr="Problem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920240"/>
            <a:ext cx="365760" cy="365760"/>
          </a:xfrm>
          <a:prstGeom prst="rect">
            <a:avLst/>
          </a:prstGeom>
        </p:spPr>
      </p:pic>
      <p:sp>
        <p:nvSpPr>
          <p:cNvPr id="11" name="Problem title 2"/>
          <p:cNvSpPr txBox="1"/>
          <p:nvPr/>
        </p:nvSpPr>
        <p:spPr>
          <a:xfrm>
            <a:off x="356616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Progress feels slow</a:t>
            </a:r>
            <a:endParaRPr lang="en-US" sz="2000" dirty="0"/>
          </a:p>
        </p:txBody>
      </p:sp>
      <p:sp>
        <p:nvSpPr>
          <p:cNvPr id="12" name="Problem text 2"/>
          <p:cNvSpPr txBox="1"/>
          <p:nvPr/>
        </p:nvSpPr>
        <p:spPr>
          <a:xfrm>
            <a:off x="3566160" y="3108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Without numbers, small gains go unnoticed and motivation fades.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6126480" y="146304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roblem 3 circle"/>
          <p:cNvSpPr/>
          <p:nvPr/>
        </p:nvSpPr>
        <p:spPr>
          <a:xfrm>
            <a:off x="640080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Problem 3 icon" descr="Problem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20240"/>
            <a:ext cx="365760" cy="365760"/>
          </a:xfrm>
          <a:prstGeom prst="rect">
            <a:avLst/>
          </a:prstGeom>
        </p:spPr>
      </p:pic>
      <p:sp>
        <p:nvSpPr>
          <p:cNvPr id="16" name="Problem title 3"/>
          <p:cNvSpPr txBox="1"/>
          <p:nvPr/>
        </p:nvSpPr>
        <p:spPr>
          <a:xfrm>
            <a:off x="640080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Plans never adapt</a:t>
            </a:r>
            <a:endParaRPr lang="en-US" sz="2000" dirty="0"/>
          </a:p>
        </p:txBody>
      </p:sp>
      <p:sp>
        <p:nvSpPr>
          <p:cNvPr id="17" name="Problem text 3"/>
          <p:cNvSpPr txBox="1"/>
          <p:nvPr/>
        </p:nvSpPr>
        <p:spPr>
          <a:xfrm>
            <a:off x="6400800" y="31089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same routine for months leads to plateaus and missed goals.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the tracker does</a:t>
            </a:r>
            <a:endParaRPr lang="en-US" sz="3600" dirty="0"/>
          </a:p>
        </p:txBody>
      </p:sp>
      <p:sp>
        <p:nvSpPr>
          <p:cNvPr id="3" name="Feature card 1"/>
          <p:cNvSpPr/>
          <p:nvPr/>
        </p:nvSpPr>
        <p:spPr>
          <a:xfrm>
            <a:off x="457200" y="13716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eature 1 circle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eature 1 icon" descr="Featur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680210"/>
            <a:ext cx="251460" cy="251460"/>
          </a:xfrm>
          <a:prstGeom prst="rect">
            <a:avLst/>
          </a:prstGeom>
        </p:spPr>
      </p:pic>
      <p:sp>
        <p:nvSpPr>
          <p:cNvPr id="6" name="Feature title 1"/>
          <p:cNvSpPr txBox="1"/>
          <p:nvPr/>
        </p:nvSpPr>
        <p:spPr>
          <a:xfrm>
            <a:off x="128016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Workout log</a:t>
            </a:r>
            <a:endParaRPr lang="en-US" sz="1600" dirty="0"/>
          </a:p>
        </p:txBody>
      </p:sp>
      <p:sp>
        <p:nvSpPr>
          <p:cNvPr id="7" name="Feature text 1"/>
          <p:cNvSpPr txBox="1"/>
          <p:nvPr/>
        </p:nvSpPr>
        <p:spPr>
          <a:xfrm>
            <a:off x="64008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Sets, reps, weight and notes in seconds</a:t>
            </a:r>
            <a:endParaRPr lang="en-US" sz="1400" dirty="0"/>
          </a:p>
        </p:txBody>
      </p:sp>
      <p:sp>
        <p:nvSpPr>
          <p:cNvPr id="8" name="Feature card 2"/>
          <p:cNvSpPr/>
          <p:nvPr/>
        </p:nvSpPr>
        <p:spPr>
          <a:xfrm>
            <a:off x="3291840" y="13716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eature 2 circle"/>
          <p:cNvSpPr/>
          <p:nvPr/>
        </p:nvSpPr>
        <p:spPr>
          <a:xfrm>
            <a:off x="347472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eature 2 icon" descr="Featur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680210"/>
            <a:ext cx="251460" cy="251460"/>
          </a:xfrm>
          <a:prstGeom prst="rect">
            <a:avLst/>
          </a:prstGeom>
        </p:spPr>
      </p:pic>
      <p:sp>
        <p:nvSpPr>
          <p:cNvPr id="11" name="Feature title 2"/>
          <p:cNvSpPr txBox="1"/>
          <p:nvPr/>
        </p:nvSpPr>
        <p:spPr>
          <a:xfrm>
            <a:off x="411480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Cardio tracking</a:t>
            </a:r>
            <a:endParaRPr lang="en-US" sz="1600" dirty="0"/>
          </a:p>
        </p:txBody>
      </p:sp>
      <p:sp>
        <p:nvSpPr>
          <p:cNvPr id="12" name="Feature text 2"/>
          <p:cNvSpPr txBox="1"/>
          <p:nvPr/>
        </p:nvSpPr>
        <p:spPr>
          <a:xfrm>
            <a:off x="347472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Distance, pace, time and heart rate</a:t>
            </a:r>
            <a:endParaRPr lang="en-US" sz="1400" dirty="0"/>
          </a:p>
        </p:txBody>
      </p:sp>
      <p:sp>
        <p:nvSpPr>
          <p:cNvPr id="13" name="Feature card 3"/>
          <p:cNvSpPr/>
          <p:nvPr/>
        </p:nvSpPr>
        <p:spPr>
          <a:xfrm>
            <a:off x="6126480" y="13716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eature 3 circle"/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Feature 3 icon" descr="Featur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1680210"/>
            <a:ext cx="251460" cy="251460"/>
          </a:xfrm>
          <a:prstGeom prst="rect">
            <a:avLst/>
          </a:prstGeom>
        </p:spPr>
      </p:pic>
      <p:sp>
        <p:nvSpPr>
          <p:cNvPr id="16" name="Feature title 3"/>
          <p:cNvSpPr txBox="1"/>
          <p:nvPr/>
        </p:nvSpPr>
        <p:spPr>
          <a:xfrm>
            <a:off x="694944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 setting</a:t>
            </a:r>
            <a:endParaRPr lang="en-US" sz="1600" dirty="0"/>
          </a:p>
        </p:txBody>
      </p:sp>
      <p:sp>
        <p:nvSpPr>
          <p:cNvPr id="17" name="Feature text 3"/>
          <p:cNvSpPr txBox="1"/>
          <p:nvPr/>
        </p:nvSpPr>
        <p:spPr>
          <a:xfrm>
            <a:off x="630936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Weekly targets and long-term milestones</a:t>
            </a:r>
            <a:endParaRPr lang="en-US" sz="1400" dirty="0"/>
          </a:p>
        </p:txBody>
      </p:sp>
      <p:sp>
        <p:nvSpPr>
          <p:cNvPr id="18" name="Feature card 4"/>
          <p:cNvSpPr/>
          <p:nvPr/>
        </p:nvSpPr>
        <p:spPr>
          <a:xfrm>
            <a:off x="457200" y="306324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eature 4 circle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Feature 4 icon" descr="Featur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371850"/>
            <a:ext cx="251460" cy="251460"/>
          </a:xfrm>
          <a:prstGeom prst="rect">
            <a:avLst/>
          </a:prstGeom>
        </p:spPr>
      </p:pic>
      <p:sp>
        <p:nvSpPr>
          <p:cNvPr id="21" name="Feature title 4"/>
          <p:cNvSpPr txBox="1"/>
          <p:nvPr/>
        </p:nvSpPr>
        <p:spPr>
          <a:xfrm>
            <a:off x="128016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Progress charts</a:t>
            </a:r>
            <a:endParaRPr lang="en-US" sz="1600" dirty="0"/>
          </a:p>
        </p:txBody>
      </p:sp>
      <p:sp>
        <p:nvSpPr>
          <p:cNvPr id="22" name="Feature text 4"/>
          <p:cNvSpPr txBox="1"/>
          <p:nvPr/>
        </p:nvSpPr>
        <p:spPr>
          <a:xfrm>
            <a:off x="64008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See strength and body trends over time</a:t>
            </a:r>
            <a:endParaRPr lang="en-US" sz="1400" dirty="0"/>
          </a:p>
        </p:txBody>
      </p:sp>
      <p:sp>
        <p:nvSpPr>
          <p:cNvPr id="23" name="Feature card 5"/>
          <p:cNvSpPr/>
          <p:nvPr/>
        </p:nvSpPr>
        <p:spPr>
          <a:xfrm>
            <a:off x="3291840" y="306324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eature 5 circle"/>
          <p:cNvSpPr/>
          <p:nvPr/>
        </p:nvSpPr>
        <p:spPr>
          <a:xfrm>
            <a:off x="3474720" y="3246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Feature 5 icon" descr="Feature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0450" y="3371850"/>
            <a:ext cx="251460" cy="251460"/>
          </a:xfrm>
          <a:prstGeom prst="rect">
            <a:avLst/>
          </a:prstGeom>
        </p:spPr>
      </p:pic>
      <p:sp>
        <p:nvSpPr>
          <p:cNvPr id="26" name="Feature title 5"/>
          <p:cNvSpPr txBox="1"/>
          <p:nvPr/>
        </p:nvSpPr>
        <p:spPr>
          <a:xfrm>
            <a:off x="411480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Routine planner</a:t>
            </a:r>
            <a:endParaRPr lang="en-US" sz="1600" dirty="0"/>
          </a:p>
        </p:txBody>
      </p:sp>
      <p:sp>
        <p:nvSpPr>
          <p:cNvPr id="27" name="Feature text 5"/>
          <p:cNvSpPr txBox="1"/>
          <p:nvPr/>
        </p:nvSpPr>
        <p:spPr>
          <a:xfrm>
            <a:off x="347472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Build and schedule your weekly split</a:t>
            </a:r>
            <a:endParaRPr lang="en-US" sz="1400" dirty="0"/>
          </a:p>
        </p:txBody>
      </p:sp>
      <p:sp>
        <p:nvSpPr>
          <p:cNvPr id="28" name="Feature card 6"/>
          <p:cNvSpPr/>
          <p:nvPr/>
        </p:nvSpPr>
        <p:spPr>
          <a:xfrm>
            <a:off x="6126480" y="306324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Feature 6 circle"/>
          <p:cNvSpPr/>
          <p:nvPr/>
        </p:nvSpPr>
        <p:spPr>
          <a:xfrm>
            <a:off x="6309360" y="3246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Feature 6 icon" descr="Feature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0" y="3371850"/>
            <a:ext cx="251460" cy="251460"/>
          </a:xfrm>
          <a:prstGeom prst="rect">
            <a:avLst/>
          </a:prstGeom>
        </p:spPr>
      </p:pic>
      <p:sp>
        <p:nvSpPr>
          <p:cNvPr id="31" name="Feature title 6"/>
          <p:cNvSpPr txBox="1"/>
          <p:nvPr/>
        </p:nvSpPr>
        <p:spPr>
          <a:xfrm>
            <a:off x="694944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 reminders</a:t>
            </a:r>
            <a:endParaRPr lang="en-US" sz="1600" dirty="0"/>
          </a:p>
        </p:txBody>
      </p:sp>
      <p:sp>
        <p:nvSpPr>
          <p:cNvPr id="32" name="Feature text 6"/>
          <p:cNvSpPr txBox="1"/>
          <p:nvPr/>
        </p:nvSpPr>
        <p:spPr>
          <a:xfrm>
            <a:off x="6309360" y="3886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Nudges that keep your streak alive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Step connector 1"/>
          <p:cNvSpPr/>
          <p:nvPr/>
        </p:nvSpPr>
        <p:spPr>
          <a:xfrm>
            <a:off x="1371600" y="1828800"/>
            <a:ext cx="12344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4" name="Step connector 2"/>
          <p:cNvSpPr/>
          <p:nvPr/>
        </p:nvSpPr>
        <p:spPr>
          <a:xfrm>
            <a:off x="3520440" y="1828800"/>
            <a:ext cx="12344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5" name="Step connector 3"/>
          <p:cNvSpPr/>
          <p:nvPr/>
        </p:nvSpPr>
        <p:spPr>
          <a:xfrm>
            <a:off x="5669280" y="1828800"/>
            <a:ext cx="123444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6" name="Step 1 circle"/>
          <p:cNvSpPr/>
          <p:nvPr/>
        </p:nvSpPr>
        <p:spPr>
          <a:xfrm>
            <a:off x="457200" y="1417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Step 1 icon" descr="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623060"/>
            <a:ext cx="411480" cy="411480"/>
          </a:xfrm>
          <a:prstGeom prst="rect">
            <a:avLst/>
          </a:prstGeom>
        </p:spPr>
      </p:pic>
      <p:sp>
        <p:nvSpPr>
          <p:cNvPr id="8" name="Step title 1"/>
          <p:cNvSpPr txBox="1"/>
          <p:nvPr/>
        </p:nvSpPr>
        <p:spPr>
          <a:xfrm>
            <a:off x="457200" y="2468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1. Plan</a:t>
            </a:r>
            <a:endParaRPr lang="en-US" sz="2000" dirty="0"/>
          </a:p>
        </p:txBody>
      </p:sp>
      <p:sp>
        <p:nvSpPr>
          <p:cNvPr id="9" name="Step text 1"/>
          <p:cNvSpPr txBox="1"/>
          <p:nvPr/>
        </p:nvSpPr>
        <p:spPr>
          <a:xfrm>
            <a:off x="45720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Pick a routine or build your own split.</a:t>
            </a:r>
            <a:endParaRPr lang="en-US" sz="1400" dirty="0"/>
          </a:p>
        </p:txBody>
      </p:sp>
      <p:sp>
        <p:nvSpPr>
          <p:cNvPr id="10" name="Step 2 circle"/>
          <p:cNvSpPr/>
          <p:nvPr/>
        </p:nvSpPr>
        <p:spPr>
          <a:xfrm>
            <a:off x="2606040" y="1417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tep 2 icon" descr="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80" y="1623060"/>
            <a:ext cx="411480" cy="411480"/>
          </a:xfrm>
          <a:prstGeom prst="rect">
            <a:avLst/>
          </a:prstGeom>
        </p:spPr>
      </p:pic>
      <p:sp>
        <p:nvSpPr>
          <p:cNvPr id="12" name="Step title 2"/>
          <p:cNvSpPr txBox="1"/>
          <p:nvPr/>
        </p:nvSpPr>
        <p:spPr>
          <a:xfrm>
            <a:off x="2606040" y="2468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2. Log</a:t>
            </a:r>
            <a:endParaRPr lang="en-US" sz="2000" dirty="0"/>
          </a:p>
        </p:txBody>
      </p:sp>
      <p:sp>
        <p:nvSpPr>
          <p:cNvPr id="13" name="Step text 2"/>
          <p:cNvSpPr txBox="1"/>
          <p:nvPr/>
        </p:nvSpPr>
        <p:spPr>
          <a:xfrm>
            <a:off x="260604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Record each set, run or class as you go.</a:t>
            </a:r>
            <a:endParaRPr lang="en-US" sz="1400" dirty="0"/>
          </a:p>
        </p:txBody>
      </p:sp>
      <p:sp>
        <p:nvSpPr>
          <p:cNvPr id="14" name="Step 3 circle"/>
          <p:cNvSpPr/>
          <p:nvPr/>
        </p:nvSpPr>
        <p:spPr>
          <a:xfrm>
            <a:off x="4754880" y="1417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tep 3 icon" descr="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1623060"/>
            <a:ext cx="411480" cy="411480"/>
          </a:xfrm>
          <a:prstGeom prst="rect">
            <a:avLst/>
          </a:prstGeom>
        </p:spPr>
      </p:pic>
      <p:sp>
        <p:nvSpPr>
          <p:cNvPr id="16" name="Step title 3"/>
          <p:cNvSpPr txBox="1"/>
          <p:nvPr/>
        </p:nvSpPr>
        <p:spPr>
          <a:xfrm>
            <a:off x="4754880" y="2468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3. Review</a:t>
            </a:r>
            <a:endParaRPr lang="en-US" sz="2000" dirty="0"/>
          </a:p>
        </p:txBody>
      </p:sp>
      <p:sp>
        <p:nvSpPr>
          <p:cNvPr id="17" name="Step text 3"/>
          <p:cNvSpPr txBox="1"/>
          <p:nvPr/>
        </p:nvSpPr>
        <p:spPr>
          <a:xfrm>
            <a:off x="475488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Check weekly charts and personal records.</a:t>
            </a:r>
            <a:endParaRPr lang="en-US" sz="1400" dirty="0"/>
          </a:p>
        </p:txBody>
      </p:sp>
      <p:sp>
        <p:nvSpPr>
          <p:cNvPr id="18" name="Step 4 circle"/>
          <p:cNvSpPr/>
          <p:nvPr/>
        </p:nvSpPr>
        <p:spPr>
          <a:xfrm>
            <a:off x="6903720" y="1417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Step 4 icon" descr="Ste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60" y="1623060"/>
            <a:ext cx="411480" cy="411480"/>
          </a:xfrm>
          <a:prstGeom prst="rect">
            <a:avLst/>
          </a:prstGeom>
        </p:spPr>
      </p:pic>
      <p:sp>
        <p:nvSpPr>
          <p:cNvPr id="20" name="Step title 4"/>
          <p:cNvSpPr txBox="1"/>
          <p:nvPr/>
        </p:nvSpPr>
        <p:spPr>
          <a:xfrm>
            <a:off x="6903720" y="2468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4. Adjust</a:t>
            </a:r>
            <a:endParaRPr lang="en-US" sz="2000" dirty="0"/>
          </a:p>
        </p:txBody>
      </p:sp>
      <p:sp>
        <p:nvSpPr>
          <p:cNvPr id="21" name="Step text 4"/>
          <p:cNvSpPr txBox="1"/>
          <p:nvPr/>
        </p:nvSpPr>
        <p:spPr>
          <a:xfrm>
            <a:off x="6903720" y="29260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Tune volume and goals based on results.</a:t>
            </a:r>
            <a:endParaRPr lang="en-US" sz="1400" dirty="0"/>
          </a:p>
        </p:txBody>
      </p:sp>
      <p:sp>
        <p:nvSpPr>
          <p:cNvPr id="22" name="Takeaway banner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akeaway text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Repeat every week: consistency beats intensity.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Weekly activity snapshot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53949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 1"/>
          <p:cNvSpPr/>
          <p:nvPr/>
        </p:nvSpPr>
        <p:spPr>
          <a:xfrm>
            <a:off x="6126480" y="137160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 value 1"/>
          <p:cNvSpPr txBox="1"/>
          <p:nvPr/>
        </p:nvSpPr>
        <p:spPr>
          <a:xfrm>
            <a:off x="6309360" y="14264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280 min</a:t>
            </a:r>
            <a:endParaRPr lang="en-US" sz="3200" dirty="0"/>
          </a:p>
        </p:txBody>
      </p:sp>
      <p:sp>
        <p:nvSpPr>
          <p:cNvPr id="6" name="Stat label 1"/>
          <p:cNvSpPr txBox="1"/>
          <p:nvPr/>
        </p:nvSpPr>
        <p:spPr>
          <a:xfrm>
            <a:off x="630936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Total active time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6126480" y="246888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value 2"/>
          <p:cNvSpPr txBox="1"/>
          <p:nvPr/>
        </p:nvSpPr>
        <p:spPr>
          <a:xfrm>
            <a:off x="6309360" y="25237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6 of 7</a:t>
            </a:r>
            <a:endParaRPr lang="en-US" sz="3200" dirty="0"/>
          </a:p>
        </p:txBody>
      </p:sp>
      <p:sp>
        <p:nvSpPr>
          <p:cNvPr id="9" name="Stat label 2"/>
          <p:cNvSpPr txBox="1"/>
          <p:nvPr/>
        </p:nvSpPr>
        <p:spPr>
          <a:xfrm>
            <a:off x="630936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Days with a workout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6126480" y="356616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t value 3"/>
          <p:cNvSpPr txBox="1"/>
          <p:nvPr/>
        </p:nvSpPr>
        <p:spPr>
          <a:xfrm>
            <a:off x="6309360" y="36210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Saturday</a:t>
            </a:r>
            <a:endParaRPr lang="en-US" sz="3200" dirty="0"/>
          </a:p>
        </p:txBody>
      </p:sp>
      <p:sp>
        <p:nvSpPr>
          <p:cNvPr id="12" name="Stat label 3"/>
          <p:cNvSpPr txBox="1"/>
          <p:nvPr/>
        </p:nvSpPr>
        <p:spPr>
          <a:xfrm>
            <a:off x="6309360" y="4169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Longest session: 75 min</a:t>
            </a:r>
            <a:endParaRPr lang="en-US" sz="1400" dirty="0"/>
          </a:p>
        </p:txBody>
      </p:sp>
      <p:sp>
        <p:nvSpPr>
          <p:cNvPr id="13" name="Sample data note"/>
          <p:cNvSpPr txBox="1"/>
          <p:nvPr/>
        </p:nvSpPr>
        <p:spPr>
          <a:xfrm>
            <a:off x="45720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Sample data for illustration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Goals and progress</a:t>
            </a:r>
            <a:endParaRPr lang="en-US" sz="3600" dirty="0"/>
          </a:p>
        </p:txBody>
      </p:sp>
      <p:sp>
        <p:nvSpPr>
          <p:cNvPr id="3" name="Goal label 1"/>
          <p:cNvSpPr txBox="1"/>
          <p:nvPr/>
        </p:nvSpPr>
        <p:spPr>
          <a:xfrm>
            <a:off x="457200" y="1325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Workouts this week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of 5 sessions</a:t>
            </a:r>
            <a:endParaRPr lang="en-US" sz="1600" dirty="0"/>
          </a:p>
        </p:txBody>
      </p:sp>
      <p:sp>
        <p:nvSpPr>
          <p:cNvPr id="4" name="Goal track 1"/>
          <p:cNvSpPr/>
          <p:nvPr/>
        </p:nvSpPr>
        <p:spPr>
          <a:xfrm>
            <a:off x="3749040" y="1517904"/>
            <a:ext cx="393192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Goal fill 1"/>
          <p:cNvSpPr/>
          <p:nvPr/>
        </p:nvSpPr>
        <p:spPr>
          <a:xfrm>
            <a:off x="3749040" y="1517904"/>
            <a:ext cx="3145536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Goal percent 1"/>
          <p:cNvSpPr txBox="1"/>
          <p:nvPr/>
        </p:nvSpPr>
        <p:spPr>
          <a:xfrm>
            <a:off x="7818120" y="132588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80%</a:t>
            </a:r>
            <a:endParaRPr lang="en-US" sz="2000" dirty="0"/>
          </a:p>
        </p:txBody>
      </p:sp>
      <p:sp>
        <p:nvSpPr>
          <p:cNvPr id="7" name="Goal label 2"/>
          <p:cNvSpPr txBox="1"/>
          <p:nvPr/>
        </p:nvSpPr>
        <p:spPr>
          <a:xfrm>
            <a:off x="457200" y="21488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Weekly run distance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18 of 25 km</a:t>
            </a:r>
            <a:endParaRPr lang="en-US" sz="1600" dirty="0"/>
          </a:p>
        </p:txBody>
      </p:sp>
      <p:sp>
        <p:nvSpPr>
          <p:cNvPr id="8" name="Goal track 2"/>
          <p:cNvSpPr/>
          <p:nvPr/>
        </p:nvSpPr>
        <p:spPr>
          <a:xfrm>
            <a:off x="3749040" y="2340864"/>
            <a:ext cx="393192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Goal fill 2"/>
          <p:cNvSpPr/>
          <p:nvPr/>
        </p:nvSpPr>
        <p:spPr>
          <a:xfrm>
            <a:off x="3749040" y="2340864"/>
            <a:ext cx="2830982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Goal percent 2"/>
          <p:cNvSpPr txBox="1"/>
          <p:nvPr/>
        </p:nvSpPr>
        <p:spPr>
          <a:xfrm>
            <a:off x="7818120" y="214884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72%</a:t>
            </a:r>
            <a:endParaRPr lang="en-US" sz="2000" dirty="0"/>
          </a:p>
        </p:txBody>
      </p:sp>
      <p:sp>
        <p:nvSpPr>
          <p:cNvPr id="11" name="Goal label 3"/>
          <p:cNvSpPr txBox="1"/>
          <p:nvPr/>
        </p:nvSpPr>
        <p:spPr>
          <a:xfrm>
            <a:off x="457200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Bench press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70 of 80 kg</a:t>
            </a:r>
            <a:endParaRPr lang="en-US" sz="1600" dirty="0"/>
          </a:p>
        </p:txBody>
      </p:sp>
      <p:sp>
        <p:nvSpPr>
          <p:cNvPr id="12" name="Goal track 3"/>
          <p:cNvSpPr/>
          <p:nvPr/>
        </p:nvSpPr>
        <p:spPr>
          <a:xfrm>
            <a:off x="3749040" y="3163824"/>
            <a:ext cx="393192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Goal fill 3"/>
          <p:cNvSpPr/>
          <p:nvPr/>
        </p:nvSpPr>
        <p:spPr>
          <a:xfrm>
            <a:off x="3749040" y="3163824"/>
            <a:ext cx="346009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Goal percent 3"/>
          <p:cNvSpPr txBox="1"/>
          <p:nvPr/>
        </p:nvSpPr>
        <p:spPr>
          <a:xfrm>
            <a:off x="7818120" y="297180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88%</a:t>
            </a:r>
            <a:endParaRPr lang="en-US" sz="2000" dirty="0"/>
          </a:p>
        </p:txBody>
      </p:sp>
      <p:sp>
        <p:nvSpPr>
          <p:cNvPr id="15" name="Goal label 4"/>
          <p:cNvSpPr txBox="1"/>
          <p:nvPr/>
        </p:nvSpPr>
        <p:spPr>
          <a:xfrm>
            <a:off x="45720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Weight-loss target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 of 4 kg</a:t>
            </a:r>
            <a:endParaRPr lang="en-US" sz="1600" dirty="0"/>
          </a:p>
        </p:txBody>
      </p:sp>
      <p:sp>
        <p:nvSpPr>
          <p:cNvPr id="16" name="Goal track 4"/>
          <p:cNvSpPr/>
          <p:nvPr/>
        </p:nvSpPr>
        <p:spPr>
          <a:xfrm>
            <a:off x="3749040" y="3986784"/>
            <a:ext cx="3931920" cy="25603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Goal fill 4"/>
          <p:cNvSpPr/>
          <p:nvPr/>
        </p:nvSpPr>
        <p:spPr>
          <a:xfrm>
            <a:off x="3749040" y="3986784"/>
            <a:ext cx="196596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Goal percent 4"/>
          <p:cNvSpPr txBox="1"/>
          <p:nvPr/>
        </p:nvSpPr>
        <p:spPr>
          <a:xfrm>
            <a:off x="7818120" y="37947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50%</a:t>
            </a:r>
            <a:endParaRPr lang="en-US" sz="2000" dirty="0"/>
          </a:p>
        </p:txBody>
      </p:sp>
      <p:sp>
        <p:nvSpPr>
          <p:cNvPr id="19" name="Sample data note"/>
          <p:cNvSpPr txBox="1"/>
          <p:nvPr/>
        </p:nvSpPr>
        <p:spPr>
          <a:xfrm>
            <a:off x="45720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Sample data for illustration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sample training week</a:t>
            </a:r>
            <a:endParaRPr lang="en-US" sz="3600" dirty="0"/>
          </a:p>
        </p:txBody>
      </p:sp>
      <p:graphicFrame>
        <p:nvGraphicFramePr>
          <p:cNvPr id="8" name="Sample wee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937760"/>
                <a:gridCol w="18288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Focus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Duration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Upper body strength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 min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Tue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Easy run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 min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Wed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Lower body strength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 min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Thu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Rest or mobility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Fri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Push, pull and core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 min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Long run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 min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Sun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Start tracking today</a:t>
            </a:r>
            <a:endParaRPr lang="en-US" sz="4000" dirty="0"/>
          </a:p>
        </p:txBody>
      </p:sp>
      <p:sp>
        <p:nvSpPr>
          <p:cNvPr id="3" name="Next number circle 1"/>
          <p:cNvSpPr/>
          <p:nvPr/>
        </p:nvSpPr>
        <p:spPr>
          <a:xfrm>
            <a:off x="548640" y="1737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ext number 1"/>
          <p:cNvSpPr txBox="1"/>
          <p:nvPr/>
        </p:nvSpPr>
        <p:spPr>
          <a:xfrm>
            <a:off x="54864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Next title 1"/>
          <p:cNvSpPr txBox="1"/>
          <p:nvPr/>
        </p:nvSpPr>
        <p:spPr>
          <a:xfrm>
            <a:off x="141732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Set one clear goal</a:t>
            </a:r>
            <a:endParaRPr lang="en-US" sz="2000" dirty="0"/>
          </a:p>
        </p:txBody>
      </p:sp>
      <p:sp>
        <p:nvSpPr>
          <p:cNvPr id="6" name="Next text 1"/>
          <p:cNvSpPr txBox="1"/>
          <p:nvPr/>
        </p:nvSpPr>
        <p:spPr>
          <a:xfrm>
            <a:off x="1417320" y="2057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Pick a measurable target for the next 4 weeks.</a:t>
            </a:r>
            <a:endParaRPr lang="en-US" sz="1400" dirty="0"/>
          </a:p>
        </p:txBody>
      </p:sp>
      <p:sp>
        <p:nvSpPr>
          <p:cNvPr id="7" name="Next number circle 2"/>
          <p:cNvSpPr/>
          <p:nvPr/>
        </p:nvSpPr>
        <p:spPr>
          <a:xfrm>
            <a:off x="548640" y="26517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ext number 2"/>
          <p:cNvSpPr txBox="1"/>
          <p:nvPr/>
        </p:nvSpPr>
        <p:spPr>
          <a:xfrm>
            <a:off x="54864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Next title 2"/>
          <p:cNvSpPr txBox="1"/>
          <p:nvPr/>
        </p:nvSpPr>
        <p:spPr>
          <a:xfrm>
            <a:off x="1417320" y="2606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Log every session</a:t>
            </a:r>
            <a:endParaRPr lang="en-US" sz="2000" dirty="0"/>
          </a:p>
        </p:txBody>
      </p:sp>
      <p:sp>
        <p:nvSpPr>
          <p:cNvPr id="10" name="Next text 2"/>
          <p:cNvSpPr txBox="1"/>
          <p:nvPr/>
        </p:nvSpPr>
        <p:spPr>
          <a:xfrm>
            <a:off x="1417320" y="2971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Even short workouts count toward your streak.</a:t>
            </a:r>
            <a:endParaRPr lang="en-US" sz="1400" dirty="0"/>
          </a:p>
        </p:txBody>
      </p:sp>
      <p:sp>
        <p:nvSpPr>
          <p:cNvPr id="11" name="Next number circle 3"/>
          <p:cNvSpPr/>
          <p:nvPr/>
        </p:nvSpPr>
        <p:spPr>
          <a:xfrm>
            <a:off x="548640" y="35661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ext number 3"/>
          <p:cNvSpPr txBox="1"/>
          <p:nvPr/>
        </p:nvSpPr>
        <p:spPr>
          <a:xfrm>
            <a:off x="54864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Next title 3"/>
          <p:cNvSpPr txBox="1"/>
          <p:nvPr/>
        </p:nvSpPr>
        <p:spPr>
          <a:xfrm>
            <a:off x="141732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Review and adjust</a:t>
            </a:r>
            <a:endParaRPr lang="en-US" sz="2000" dirty="0"/>
          </a:p>
        </p:txBody>
      </p:sp>
      <p:sp>
        <p:nvSpPr>
          <p:cNvPr id="14" name="Next text 3"/>
          <p:cNvSpPr txBox="1"/>
          <p:nvPr/>
        </p:nvSpPr>
        <p:spPr>
          <a:xfrm>
            <a:off x="1417320" y="3886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Check progress weekly and tweak your plan monthly.</a:t>
            </a:r>
            <a:endParaRPr lang="en-US" sz="1400" dirty="0"/>
          </a:p>
        </p:txBody>
      </p:sp>
      <p:sp>
        <p:nvSpPr>
          <p:cNvPr id="15" name="Closing circle"/>
          <p:cNvSpPr/>
          <p:nvPr/>
        </p:nvSpPr>
        <p:spPr>
          <a:xfrm>
            <a:off x="6858000" y="1828800"/>
            <a:ext cx="1828800" cy="1828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losing icon" descr="Check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33172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tness Tracker">
  <a:themeElements>
    <a:clrScheme name="Fitness Tracker">
      <a:dk1>
        <a:srgbClr val="14181C"/>
      </a:dk1>
      <a:lt1>
        <a:srgbClr val="FFFFFF"/>
      </a:lt1>
      <a:dk2>
        <a:srgbClr val="5B6770"/>
      </a:dk2>
      <a:lt2>
        <a:srgbClr val="EEF1F3"/>
      </a:lt2>
      <a:accent1>
        <a:srgbClr val="FF5A36"/>
      </a:accent1>
      <a:accent2>
        <a:srgbClr val="1FC8A0"/>
      </a:accent2>
      <a:accent3>
        <a:srgbClr val="FFB703"/>
      </a:accent3>
      <a:accent4>
        <a:srgbClr val="7A8791"/>
      </a:accent4>
      <a:accent5>
        <a:srgbClr val="3A4750"/>
      </a:accent5>
      <a:accent6>
        <a:srgbClr val="C8D0D5"/>
      </a:accent6>
      <a:hlink>
        <a:srgbClr val="FF5A36"/>
      </a:hlink>
      <a:folHlink>
        <a:srgbClr val="7A8791"/>
      </a:folHlink>
    </a:clrScheme>
    <a:fontScheme name="Fitness Track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Fitness &amp; Workout Tracker</dc:title>
  <dc:subject>PptxGenJS Presentation</dc:subject>
  <dc:creator>PptxGenJS</dc:creator>
  <cp:lastModifiedBy>PptxGenJS</cp:lastModifiedBy>
  <cp:revision>1</cp:revision>
  <dcterms:created xsi:type="dcterms:W3CDTF">2026-10-12T15:47:40Z</dcterms:created>
  <dcterms:modified xsi:type="dcterms:W3CDTF">2026-10-12T15:47:40Z</dcterms:modified>
</cp:coreProperties>
</file>